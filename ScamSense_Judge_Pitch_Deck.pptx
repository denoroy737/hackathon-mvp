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/100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 Voice
Clone</c:v>
                  </c:pt>
                  <c:pt idx="1">
                    <c:v>Digital
Arrest</c:v>
                  </c:pt>
                  <c:pt idx="2">
                    <c:v>Task-Based
Job Scam</c:v>
                  </c:pt>
                  <c:pt idx="3">
                    <c:v>Fake
Customer Care</c:v>
                  </c:pt>
                  <c:pt idx="4">
                    <c:v>Pig
Butchering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</c:v>
                </c:pt>
                <c:pt idx="1">
                  <c:v>91</c:v>
                </c:pt>
                <c:pt idx="2">
                  <c:v>88</c:v>
                </c:pt>
                <c:pt idx="3">
                  <c:v>85</c:v>
                </c:pt>
                <c:pt idx="4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629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-731520"/>
            <a:ext cx="3291840" cy="3291840"/>
          </a:xfrm>
          <a:prstGeom prst="ellipse">
            <a:avLst/>
          </a:prstGeom>
          <a:solidFill>
            <a:srgbClr val="232C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HACKATHON MVP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ScamSense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for scam awareness — we train the decision, not the detector.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232C5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690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15768" y="406908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232C5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406908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Cloning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406908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232C5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Job Scams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scam. Explain the manipulation. Train the resilience.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is losing this fight — and it isn't a technology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21629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₹19,813 Cr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fraud in India in 2025 alone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9976" y="18745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21629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54296" y="2148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adults hit by AI voice-clone or deepfake scams — nearly 2x the global rate of 25%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11312" y="18745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21629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85632" y="21488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85632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jump in voice-cloning fraud cases, Haryana Cyber Cell, Q4 2025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216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709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technically looks malicious.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is legitimate, the platform is legitimate, the website is legitimate — the attacker is manipulating the human on the other end.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Threat &amp; Market Research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MISS THIS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detect malicious infrastructure. This attack has none.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536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MISSES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91672" cy="9601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828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 / spam blockers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828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known spam numbers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82880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block a legitimate number used to socially engineer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7889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(RBI monitoring)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78892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suspicious transactions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78892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stop a victim who voluntarily, willingly transfers funds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91672" cy="9601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&amp; antivirus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7490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malicious URLs, SMS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749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malicious link exists — the call is the whole attack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awareness (I4C, CERT-In)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47091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advisories, post-fraud helplines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7091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generic — no personalized or interactive training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Market Gap Analysis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6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SCAMSENSE WORKS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 loop that trains the decision, not the click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12264" cy="3291840"/>
          </a:xfrm>
          <a:prstGeom prst="roundRect">
            <a:avLst>
              <a:gd name="adj" fmla="val 4329"/>
            </a:avLst>
          </a:prstGeom>
          <a:solidFill>
            <a:srgbClr val="1B2350"/>
          </a:solidFill>
          <a:ln w="12700">
            <a:solidFill>
              <a:srgbClr val="2A34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53312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Scam Simulation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exact conversation, call, or chat pattern scammers use today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42616" y="33832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07208" y="1965960"/>
            <a:ext cx="2112264" cy="3291840"/>
          </a:xfrm>
          <a:prstGeom prst="roundRect">
            <a:avLst>
              <a:gd name="adj" fmla="val 4329"/>
            </a:avLst>
          </a:prstGeom>
          <a:solidFill>
            <a:srgbClr val="1B2350"/>
          </a:solidFill>
          <a:ln w="12700">
            <a:solidFill>
              <a:srgbClr val="2A34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Makes a Decision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365760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responds in real time — comply, verify, refuse, escalate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33832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65776" y="1965960"/>
            <a:ext cx="2112264" cy="3291840"/>
          </a:xfrm>
          <a:prstGeom prst="roundRect">
            <a:avLst>
              <a:gd name="adj" fmla="val 4329"/>
            </a:avLst>
          </a:prstGeom>
          <a:solidFill>
            <a:srgbClr val="1B2350"/>
          </a:solidFill>
          <a:ln w="12700">
            <a:solidFill>
              <a:srgbClr val="2A34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0448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70448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Red Flags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248656" y="365760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the psychological lever and the technical tell, side by side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33832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24344" y="1965960"/>
            <a:ext cx="2112264" cy="3291840"/>
          </a:xfrm>
          <a:prstGeom prst="roundRect">
            <a:avLst>
              <a:gd name="adj" fmla="val 4329"/>
            </a:avLst>
          </a:prstGeom>
          <a:solidFill>
            <a:srgbClr val="1B2350"/>
          </a:solidFill>
          <a:ln w="12700">
            <a:solidFill>
              <a:srgbClr val="2A34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9016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29016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the Weakness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507224" y="365760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which manipulation pattern the user fell for — authority, urgency, trust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0" y="338328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82912" y="1965960"/>
            <a:ext cx="2112264" cy="3291840"/>
          </a:xfrm>
          <a:prstGeom prst="roundRect">
            <a:avLst>
              <a:gd name="adj" fmla="val 4329"/>
            </a:avLst>
          </a:prstGeom>
          <a:solidFill>
            <a:srgbClr val="1B2350"/>
          </a:solidFill>
          <a:ln w="12700">
            <a:solidFill>
              <a:srgbClr val="2A34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87584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87584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747504" y="2926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Practice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9765792" y="3657600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Resurface harder variants of that exact pattern until it stops working on them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— resilience compounds with every session.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Product Loop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WHITESPACE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detects infrastructure. No one trains the decision.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536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OFFER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1536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ACT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966960" y="153619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1828800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tools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82880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Truecaller, antivirus, URL scanners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2880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Pre-contact / pre-click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1828800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724912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monitoring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724912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alerts, fraud reversal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72491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Post-transaction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0" y="2724912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11091672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621024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Gov't awareness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3621024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I4C, CERT-In advisories, helplines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62102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Post-fraud, generic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0" y="3621024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517136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sim (KnowBe4 etc.)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4517136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 simulation, B2B only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517136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Pre-incident, enterprise-only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4517136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only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550408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550408"/>
            <a:ext cx="2194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200400" y="5550408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scenario simulation across calls, video, chat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555040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Pre-incident, personalized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5550408"/>
            <a:ext cx="1399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E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Market Gap Analysis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across frequency, impact, and simulation feasibility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600200"/>
            <a:ext cx="3410712" cy="4434840"/>
          </a:xfrm>
          <a:prstGeom prst="roundRect">
            <a:avLst>
              <a:gd name="adj" fmla="val 2681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5820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CRITERIA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58200" y="229514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68512" y="2167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financial impact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0" y="287121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68512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relevance &amp; elderly vulnerability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344728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68512" y="33192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complexity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402336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68512" y="38953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existing tools to solve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458200" y="459943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68512" y="447141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simulate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458200" y="517550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68512" y="50474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 feasibility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Opportunity Analysis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01 · SIMULATED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Arrest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104120" y="45720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04120" y="5029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104120" y="9875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1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 </a:t>
            </a:r>
            <a:pPr indent="0" marL="0">
              <a:buNone/>
            </a:pPr>
            <a:r>
              <a:rPr lang="en-US" sz="125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81-year-old Belagavi businessman lost ₹15.45 crore over 6 weeks to a fake “CBI” video call.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52374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“Police/CBI” calls, alleges number linked to a crime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403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40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98551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video call — uniform, fake FIR shown on screen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4472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“Stay on camera — don’t talk to anyone, or you’ll be arrested”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6392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639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9090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kept under continuous surveillance for hours or weeks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256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37083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“Transfer funds for verification — refunded after clearance”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8746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887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83260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liquidates savings, gold, FDs; loss escalates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2286000"/>
            <a:ext cx="5833872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0" y="242316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MISS IT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2724912"/>
            <a:ext cx="5376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call runs on a legitimate app (WhatsApp/Skype). No malicious link, no malware — and the money moves because the victim chooses to send it, out of fear.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3840480"/>
            <a:ext cx="5833872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35040" y="397764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LEVERS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4279392"/>
            <a:ext cx="101498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35040" y="4279392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87184" y="4279392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87184" y="427939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27848" y="4279392"/>
            <a:ext cx="101498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927848" y="4279392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79992" y="4279392"/>
            <a:ext cx="850392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079992" y="4279392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2162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TAUGHT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Indian law authorizes a digital arrest.”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Simulation Scenario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02 · SIMULATED VOICE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Voice Clone — Family Emergency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104120" y="45720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04120" y="5029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104120" y="9875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1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 </a:t>
            </a:r>
            <a:pPr indent="0" marL="0">
              <a:buNone/>
            </a:pPr>
            <a:r>
              <a:rPr lang="en-US" sz="125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72-year-old Hyderabad homemaker sent ₹1.97 lakh after a call from her cloned “sister-in-law” voice.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52374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Scammer lifts 3–30 sec of a family member’s voice from social media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403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40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98551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tools clone the voice near-perfectly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4472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arrives: “Mom, I’m in an accident — send money now”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6392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639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9090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ID may even be spoofed to match the real contact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256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37083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panic overrides the instinct to double-check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8746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887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83260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transferred before any independent verification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2286000"/>
            <a:ext cx="5833872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0" y="242316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MISS IT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2724912"/>
            <a:ext cx="5376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is indistinguishable from the real one — 69% of Indians can’t tell AI voice from human. No link, no malware, just legitimate telecom infrastructure carrying a cloned voice.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3840480"/>
            <a:ext cx="5833872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35040" y="397764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LEVERS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4279392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35040" y="427939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51776" y="4279392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51776" y="427939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92440" y="4279392"/>
            <a:ext cx="850392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92440" y="4279392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79992" y="4279392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079992" y="4279392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pull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2162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TAUGHT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“Voice familiarity is not identity verification — hang up, call back on a saved number.”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Simulation Scenario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03 · SIMULATED 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Task-Based Job Scam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104120" y="45720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04120" y="5029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104120" y="9875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/100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1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173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 </a:t>
            </a:r>
            <a:pPr indent="0" marL="0">
              <a:buNone/>
            </a:pPr>
            <a:r>
              <a:rPr lang="en-US" sz="125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man lost ₹44.8 lakh after a Telegram “work from home” job promised ₹20K–50K per day.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52374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message: “HR from [Big Company], hiring now”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403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40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98551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a Telegram group with 500 “candidates” and testimonials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44728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pay real money (₹50–300 via UPI) — trust builds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6392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639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9090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tasks completed; dashboard shows growing earnings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256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37083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“VIP tasks: deposit ₹5,000 to unlock ₹50,000 — offer ends in 2hrs”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8746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887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83260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Withdrawals blocked; “tax/verification fees” demanded endlessly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2286000"/>
            <a:ext cx="5833872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35040" y="242316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MISS IT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2724912"/>
            <a:ext cx="5376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and WhatsApp are legitimate platforms. The first payouts are real money. The scam unfolds over weeks — no single moment trips a fraud filter.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3840480"/>
            <a:ext cx="5833872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35040" y="397764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LEVERS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4279392"/>
            <a:ext cx="117957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35040" y="427939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51776" y="4279392"/>
            <a:ext cx="1261872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51776" y="427939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50808" y="4279392"/>
            <a:ext cx="1014984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750808" y="4279392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 cost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902952" y="4279392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902952" y="427939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2162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TAUGHT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job that asks you to deposit money is always a scam.”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Simulation Scenario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6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MECHANIC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scenario is scored, tracked, and adapted to you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B2350"/>
          </a:solidFill>
          <a:ln w="12700">
            <a:solidFill>
              <a:srgbClr val="2A34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5000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red flags — generic threats, poor audio quality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B2350"/>
          </a:solidFill>
          <a:ln w="12700">
            <a:solidFill>
              <a:srgbClr val="2A34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355848"/>
            <a:ext cx="457200" cy="457200"/>
          </a:xfrm>
          <a:prstGeom prst="ellipse">
            <a:avLst/>
          </a:prstGeom>
          <a:solidFill>
            <a:srgbClr val="E0A33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— specific details, professional tone, real UPI payouts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B2350"/>
          </a:solidFill>
          <a:ln w="12700">
            <a:solidFill>
              <a:srgbClr val="2A34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361688"/>
            <a:ext cx="457200" cy="457200"/>
          </a:xfrm>
          <a:prstGeom prst="ellipse">
            <a:avLst/>
          </a:prstGeom>
          <a:solidFill>
            <a:srgbClr val="6FE3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526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Near-indistinguishable — cloned voice, fake documents, live pressure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SYSTEM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2148840"/>
            <a:ext cx="5330952" cy="658368"/>
          </a:xfrm>
          <a:prstGeom prst="roundRect">
            <a:avLst>
              <a:gd name="adj" fmla="val 11111"/>
            </a:avLst>
          </a:prstGeom>
          <a:solidFill>
            <a:srgbClr val="1B23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21488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E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21488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up and independently verify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971800"/>
            <a:ext cx="5330952" cy="658368"/>
          </a:xfrm>
          <a:prstGeom prst="roundRect">
            <a:avLst>
              <a:gd name="adj" fmla="val 11111"/>
            </a:avLst>
          </a:prstGeom>
          <a:solidFill>
            <a:srgbClr val="1B23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29718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E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9718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verification question before acting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794760"/>
            <a:ext cx="5330952" cy="658368"/>
          </a:xfrm>
          <a:prstGeom prst="roundRect">
            <a:avLst>
              <a:gd name="adj" fmla="val 11111"/>
            </a:avLst>
          </a:prstGeom>
          <a:solidFill>
            <a:srgbClr val="1B23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92240" y="37947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–10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7947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or transfer money without checking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4663440"/>
            <a:ext cx="5330952" cy="1005840"/>
          </a:xfrm>
          <a:prstGeom prst="roundRect">
            <a:avLst>
              <a:gd name="adj" fmla="val 7273"/>
            </a:avLst>
          </a:prstGeom>
          <a:solidFill>
            <a:srgbClr val="232C5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TRACKING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logs which lever beats you — authority, urgency, trust — and resurfaces that pattern until it stops working.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Product Mechanic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FOR JUDGES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3-minute walkthrough: AI Voice Clone — Family Emergency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8366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11880" y="199339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19933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883664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“Haryana alone saw 2,300+ voice-clone frauds last quarter — a 450% jump. Existing tools can’t stop this.”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249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11880" y="283464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11880" y="28346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724912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cloned “emergency call” live: “Mom, I’m in an accident — I need ₹2 lakh right now.”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11296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6301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11880" y="3675888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11880" y="36758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56616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makes the call in real time: transfer, hang up, or ask a verification question.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352544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4471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44074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11880" y="451713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11880" y="45171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4407408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reveals instantly, alongside the exact psychological lever that was used.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19379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5312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508760" y="524865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611880" y="535838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11880" y="53583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5248656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1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1 of 10 scenarios. ScamSense adapts to your weak spot — before you lose money, not after.”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 · Demo Script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62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WE OWN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143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train the human before the attack.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tools stop malicious links and known spam numbers. They cannot stop a legitimate call, a real payment platform, or a voice that sounds exactly like your son. ScamSense closes that gap — proactive, personalized, adaptive simulation for the moment no scanner can reach: the human decision.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3675888" cy="502920"/>
          </a:xfrm>
          <a:prstGeom prst="roundRect">
            <a:avLst>
              <a:gd name="adj" fmla="val 49091"/>
            </a:avLst>
          </a:prstGeom>
          <a:solidFill>
            <a:srgbClr val="232C5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77640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channels, not malware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0016" y="3977640"/>
            <a:ext cx="3474720" cy="502920"/>
          </a:xfrm>
          <a:prstGeom prst="roundRect">
            <a:avLst>
              <a:gd name="adj" fmla="val 49091"/>
            </a:avLst>
          </a:prstGeom>
          <a:solidFill>
            <a:srgbClr val="232C5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0016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Psychology, not phishing links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75904" y="3977640"/>
            <a:ext cx="4279392" cy="502920"/>
          </a:xfrm>
          <a:prstGeom prst="roundRect">
            <a:avLst>
              <a:gd name="adj" fmla="val 49091"/>
            </a:avLst>
          </a:prstGeom>
          <a:solidFill>
            <a:srgbClr val="232C5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75904" y="3977640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safely, practiced repeatedly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02920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B23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this.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this. </a:t>
            </a:r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lives.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ScamSense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2026-09-07T10:16:33Z</dcterms:created>
  <dcterms:modified xsi:type="dcterms:W3CDTF">2026-09-07T10:16:33Z</dcterms:modified>
</cp:coreProperties>
</file>